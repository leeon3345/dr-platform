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a1d2568118430e" /><Relationship Type="http://schemas.openxmlformats.org/officeDocument/2006/relationships/extended-properties" Target="/docProps/app.xml" Id="R3a84eb39dbb34121" /><Relationship Type="http://schemas.openxmlformats.org/officeDocument/2006/relationships/officeDocument" Target="/ppt/presentation.xml" Id="R62b5043fc61241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1412e8ea24865"/>
  </p:sldMasterIdLst>
  <p:notesMasterIdLst>
    <p:notesMasterId xmlns:r="http://schemas.openxmlformats.org/officeDocument/2006/relationships" r:id="Rca9a1aeb366e4a45"/>
  </p:notesMasterIdLst>
  <p:sldIdLst>
    <p:sldId xmlns:r="http://schemas.openxmlformats.org/officeDocument/2006/relationships" id="256" r:id="Rfd1c67e313b54766"/>
    <p:sldId xmlns:r="http://schemas.openxmlformats.org/officeDocument/2006/relationships" id="257" r:id="R3ea83f8430ca41ff"/>
    <p:sldId xmlns:r="http://schemas.openxmlformats.org/officeDocument/2006/relationships" id="258" r:id="R94cbdf0459ca46b8"/>
    <p:sldId xmlns:r="http://schemas.openxmlformats.org/officeDocument/2006/relationships" id="259" r:id="R694a3c6710724173"/>
    <p:sldId xmlns:r="http://schemas.openxmlformats.org/officeDocument/2006/relationships" id="260" r:id="Rfaae2e54094f4acc"/>
    <p:sldId xmlns:r="http://schemas.openxmlformats.org/officeDocument/2006/relationships" id="261" r:id="R2a3f35e456ed40fc"/>
    <p:sldId xmlns:r="http://schemas.openxmlformats.org/officeDocument/2006/relationships" id="262" r:id="R12be50657c354dbf"/>
    <p:sldId xmlns:r="http://schemas.openxmlformats.org/officeDocument/2006/relationships" id="263" r:id="Rc1347e8a0ebd47e8"/>
    <p:sldId xmlns:r="http://schemas.openxmlformats.org/officeDocument/2006/relationships" id="264" r:id="Rd9621f3dea414693"/>
    <p:sldId xmlns:r="http://schemas.openxmlformats.org/officeDocument/2006/relationships" id="265" r:id="R3ca9d69c465c4c82"/>
    <p:sldId xmlns:r="http://schemas.openxmlformats.org/officeDocument/2006/relationships" id="266" r:id="R8e4b9ecc7484468e"/>
    <p:sldId xmlns:r="http://schemas.openxmlformats.org/officeDocument/2006/relationships" id="267" r:id="Rccce9cdcc5114916"/>
    <p:sldId xmlns:r="http://schemas.openxmlformats.org/officeDocument/2006/relationships" id="268" r:id="R2cd39804ee274a1f"/>
    <p:sldId xmlns:r="http://schemas.openxmlformats.org/officeDocument/2006/relationships" id="269" r:id="R7f25a60bcaee48e9"/>
    <p:sldId xmlns:r="http://schemas.openxmlformats.org/officeDocument/2006/relationships" id="270" r:id="Rfe61c4b33bc14c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621a45849246ac" /><Relationship Type="http://schemas.openxmlformats.org/officeDocument/2006/relationships/slideMaster" Target="/ppt/slideMasters/slideMaster1.xml" Id="R7051412e8ea24865" /><Relationship Type="http://schemas.openxmlformats.org/officeDocument/2006/relationships/notesMaster" Target="/ppt/notesMasters/notesMaster1.xml" Id="Rca9a1aeb366e4a45" /><Relationship Type="http://schemas.openxmlformats.org/officeDocument/2006/relationships/presProps" Target="/ppt/presProps.xml" Id="Ra891693702964766" /><Relationship Type="http://schemas.openxmlformats.org/officeDocument/2006/relationships/viewProps" Target="/ppt/viewProps.xml" Id="R2efc5f948aa84ccd" /><Relationship Type="http://schemas.openxmlformats.org/officeDocument/2006/relationships/tableStyles" Target="/ppt/tableStyles.xml" Id="R474504b373104785" /><Relationship Type="http://schemas.openxmlformats.org/officeDocument/2006/relationships/slide" Target="/ppt/slides/slide1.xml" Id="Rfd1c67e313b54766" /><Relationship Type="http://schemas.openxmlformats.org/officeDocument/2006/relationships/slide" Target="/ppt/slides/slide2.xml" Id="R3ea83f8430ca41ff" /><Relationship Type="http://schemas.openxmlformats.org/officeDocument/2006/relationships/slide" Target="/ppt/slides/slide3.xml" Id="R94cbdf0459ca46b8" /><Relationship Type="http://schemas.openxmlformats.org/officeDocument/2006/relationships/slide" Target="/ppt/slides/slide4.xml" Id="R694a3c6710724173" /><Relationship Type="http://schemas.openxmlformats.org/officeDocument/2006/relationships/slide" Target="/ppt/slides/slide5.xml" Id="Rfaae2e54094f4acc" /><Relationship Type="http://schemas.openxmlformats.org/officeDocument/2006/relationships/slide" Target="/ppt/slides/slide6.xml" Id="R2a3f35e456ed40fc" /><Relationship Type="http://schemas.openxmlformats.org/officeDocument/2006/relationships/slide" Target="/ppt/slides/slide7.xml" Id="R12be50657c354dbf" /><Relationship Type="http://schemas.openxmlformats.org/officeDocument/2006/relationships/slide" Target="/ppt/slides/slide8.xml" Id="Rc1347e8a0ebd47e8" /><Relationship Type="http://schemas.openxmlformats.org/officeDocument/2006/relationships/slide" Target="/ppt/slides/slide9.xml" Id="Rd9621f3dea414693" /><Relationship Type="http://schemas.openxmlformats.org/officeDocument/2006/relationships/slide" Target="/ppt/slides/slide10.xml" Id="R3ca9d69c465c4c82" /><Relationship Type="http://schemas.openxmlformats.org/officeDocument/2006/relationships/slide" Target="/ppt/slides/slide11.xml" Id="R8e4b9ecc7484468e" /><Relationship Type="http://schemas.openxmlformats.org/officeDocument/2006/relationships/slide" Target="/ppt/slides/slide12.xml" Id="Rccce9cdcc5114916" /><Relationship Type="http://schemas.openxmlformats.org/officeDocument/2006/relationships/slide" Target="/ppt/slides/slide13.xml" Id="R2cd39804ee274a1f" /><Relationship Type="http://schemas.openxmlformats.org/officeDocument/2006/relationships/slide" Target="/ppt/slides/slide14.xml" Id="R7f25a60bcaee48e9" /><Relationship Type="http://schemas.openxmlformats.org/officeDocument/2006/relationships/slide" Target="/ppt/slides/slide15.xml" Id="Rfe61c4b33bc14c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a72393a39044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f7deb8d8064c69" /><Relationship Type="http://schemas.openxmlformats.org/officeDocument/2006/relationships/notesMaster" Target="/ppt/notesMasters/notesMaster1.xml" Id="Radf9d1e467a74a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9d97b4b0414ac4" /><Relationship Type="http://schemas.openxmlformats.org/officeDocument/2006/relationships/notesMaster" Target="/ppt/notesMasters/notesMaster1.xml" Id="R856f1a67eab54f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370ef4a3504486" /><Relationship Type="http://schemas.openxmlformats.org/officeDocument/2006/relationships/notesMaster" Target="/ppt/notesMasters/notesMaster1.xml" Id="R42833b9321b149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e5af4a6307419b" /><Relationship Type="http://schemas.openxmlformats.org/officeDocument/2006/relationships/notesMaster" Target="/ppt/notesMasters/notesMaster1.xml" Id="R90e70437817f4c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a15e1d767a4c5b" /><Relationship Type="http://schemas.openxmlformats.org/officeDocument/2006/relationships/notesMaster" Target="/ppt/notesMasters/notesMaster1.xml" Id="Rc99a58d193a54e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4a2b177ed7448e" /><Relationship Type="http://schemas.openxmlformats.org/officeDocument/2006/relationships/notesMaster" Target="/ppt/notesMasters/notesMaster1.xml" Id="Re363839e739b4f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5a396924eb4b10" /><Relationship Type="http://schemas.openxmlformats.org/officeDocument/2006/relationships/notesMaster" Target="/ppt/notesMasters/notesMaster1.xml" Id="Re98896d002bf4a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b28ebed8064bf5" /><Relationship Type="http://schemas.openxmlformats.org/officeDocument/2006/relationships/notesMaster" Target="/ppt/notesMasters/notesMaster1.xml" Id="Ra6a73fa64e6b40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3730133d3f45c0" /><Relationship Type="http://schemas.openxmlformats.org/officeDocument/2006/relationships/notesMaster" Target="/ppt/notesMasters/notesMaster1.xml" Id="R70fe205666084f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42c6e32a3a4674" /><Relationship Type="http://schemas.openxmlformats.org/officeDocument/2006/relationships/notesMaster" Target="/ppt/notesMasters/notesMaster1.xml" Id="R25880df67b5c49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c480fd27c9472e" /><Relationship Type="http://schemas.openxmlformats.org/officeDocument/2006/relationships/notesMaster" Target="/ppt/notesMasters/notesMaster1.xml" Id="R6a8cacb3af2840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ac6099c77049a4" /><Relationship Type="http://schemas.openxmlformats.org/officeDocument/2006/relationships/notesMaster" Target="/ppt/notesMasters/notesMaster1.xml" Id="R4f26bb30cfc044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3ebd4688964eaf" /><Relationship Type="http://schemas.openxmlformats.org/officeDocument/2006/relationships/notesMaster" Target="/ppt/notesMasters/notesMaster1.xml" Id="R6117e99856a04c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14a8b84cd54313" /><Relationship Type="http://schemas.openxmlformats.org/officeDocument/2006/relationships/notesMaster" Target="/ppt/notesMasters/notesMaster1.xml" Id="R70df9e70b8ea40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d99af16ff24db9" /><Relationship Type="http://schemas.openxmlformats.org/officeDocument/2006/relationships/notesMaster" Target="/ppt/notesMasters/notesMaster1.xml" Id="R8840e7e5d8c54b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efe62308b43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1dd9987dbe4fff" /><Relationship Type="http://schemas.openxmlformats.org/officeDocument/2006/relationships/slideLayout" Target="/ppt/slideLayouts/slideLayout1.xml" Id="Rc5633908251542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633908251542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6b7072a8d4038" /><Relationship Type="http://schemas.openxmlformats.org/officeDocument/2006/relationships/notesSlide" Target="/ppt/notesSlides/notesSlide1.xml" Id="R2e332de1a16447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645f227ab4e3d" /><Relationship Type="http://schemas.openxmlformats.org/officeDocument/2006/relationships/notesSlide" Target="/ppt/notesSlides/notesSlide2.xml" Id="Red282a90fbc74b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11a470a504876" /><Relationship Type="http://schemas.openxmlformats.org/officeDocument/2006/relationships/notesSlide" Target="/ppt/notesSlides/notesSlide3.xml" Id="R27868633042341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1b8aa09d645c0" /><Relationship Type="http://schemas.openxmlformats.org/officeDocument/2006/relationships/notesSlide" Target="/ppt/notesSlides/notesSlide4.xml" Id="R0b185ca6fef24f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70a2421c343e8" /><Relationship Type="http://schemas.openxmlformats.org/officeDocument/2006/relationships/notesSlide" Target="/ppt/notesSlides/notesSlide5.xml" Id="Rae7f5840479341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f93ed30c147f2" /><Relationship Type="http://schemas.openxmlformats.org/officeDocument/2006/relationships/notesSlide" Target="/ppt/notesSlides/notesSlide6.xml" Id="R85630fe50f364a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2b8bc3d9c4e53" /><Relationship Type="http://schemas.openxmlformats.org/officeDocument/2006/relationships/notesSlide" Target="/ppt/notesSlides/notesSlide7.xml" Id="R3431c496eeef4f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874841f5e46e5" /><Relationship Type="http://schemas.openxmlformats.org/officeDocument/2006/relationships/notesSlide" Target="/ppt/notesSlides/notesSlide8.xml" Id="R6a08bc80c6634d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9630154704a5e" /><Relationship Type="http://schemas.openxmlformats.org/officeDocument/2006/relationships/notesSlide" Target="/ppt/notesSlides/notesSlide9.xml" Id="R02ed295885614b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e9a2787624c2b" /><Relationship Type="http://schemas.openxmlformats.org/officeDocument/2006/relationships/notesSlide" Target="/ppt/notesSlides/notesSlide10.xml" Id="R6491c98698ab49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e97304a2e4e3a" /><Relationship Type="http://schemas.openxmlformats.org/officeDocument/2006/relationships/notesSlide" Target="/ppt/notesSlides/notesSlide11.xml" Id="Ra2d41212a1ef40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968b7652c47ca" /><Relationship Type="http://schemas.openxmlformats.org/officeDocument/2006/relationships/notesSlide" Target="/ppt/notesSlides/notesSlide12.xml" Id="R1748ff1ac70f4a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a9f891fe2431b" /><Relationship Type="http://schemas.openxmlformats.org/officeDocument/2006/relationships/notesSlide" Target="/ppt/notesSlides/notesSlide13.xml" Id="R442b1ae1b0184a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14ec4fdfe47e7" /><Relationship Type="http://schemas.openxmlformats.org/officeDocument/2006/relationships/notesSlide" Target="/ppt/notesSlides/notesSlide14.xml" Id="R86c0d15e4fb547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f5d30be3348a1" /><Relationship Type="http://schemas.openxmlformats.org/officeDocument/2006/relationships/notesSlide" Target="/ppt/notesSlides/notesSlide15.xml" Id="R0e6c8d48e64549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50F89E-5BD9-4C97-BD5E-D4EE013B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15864-42AF-475B-B1E6-687E27CF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628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38E49-1AB3-4EB0-8CCB-37EAD96F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E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D8DEE8"/>
                </a:solidFill>
                <a:latin typeface="Apple SD Gothic Neo"/>
                <a:ea typeface="Apple SD Gothic Neo"/>
                <a:cs typeface="Apple SD Gothic Neo"/>
              </a:rPr>
              <a:t>Kubernetes 다중 클러스터 재해복구(DR) 및 Failback 자동화 플랫폼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A695B-C8F3-4712-A7EA-5E5A4CC5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657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0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C0D8"/>
                </a:solidFill>
                <a:latin typeface="Apple SD Gothic Neo"/>
                <a:ea typeface="Apple SD Gothic Neo"/>
                <a:cs typeface="Apple SD Gothic Neo"/>
              </a:rPr>
              <a:t>장애 감지부터 복구 승인, 대피 운영, 원상 복구까지 하나의 운영 흐름으로 연결합니다.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A5214-DDCA-4163-9860-F2A79C43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1FCF6-00DF-48FB-8065-E34B4EC5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Cloud K8s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21A9B-16CF-4B93-A2D7-CC7F1BB9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427A5-9283-4622-B4D3-CD9C1EE3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80555-CA77-499B-A3C4-C7965E9F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814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Velero Backup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7A566-A3CE-4F6B-AC1E-D5C89811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815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82714-D7CE-4A73-980C-D2CA8C53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1619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3ABEC-D7A9-484E-929C-ECAAB00B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8147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Edge K3s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CE202-9BCE-4213-AD3F-6AA9F555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E0305-19F2-49F2-BBE9-48288460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057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37015-024A-42EC-B4D7-C7579AB4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81475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Failback Script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7C674-CAF0-4945-AF9A-4088C55C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1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8C1D1"/>
                </a:solidFill>
                <a:latin typeface="Apple SD Gothic Neo"/>
                <a:ea typeface="Apple SD Gothic Neo"/>
                <a:cs typeface="Apple SD Gothic Neo"/>
              </a:rPr>
              <a:t>1조 · 최종 발표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D9721-A3FC-4B4C-AA43-4B013D7A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8105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071F6-FD0F-4B56-82C6-4B96732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858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F9D7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F9D73"/>
                </a:solidFill>
                <a:latin typeface="Arial"/>
                <a:ea typeface="Arial"/>
                <a:cs typeface="Arial"/>
              </a:rPr>
              <a:t>DR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DE5E9-6D7D-4C1B-A9F1-2CB76188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66900"/>
            <a:ext cx="100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8DE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EE8"/>
                </a:solidFill>
                <a:latin typeface="Arial"/>
                <a:ea typeface="Arial"/>
                <a:cs typeface="Arial"/>
              </a:rPr>
              <a:t>operator</a:t>
            </a:r>
          </a:p>
          <a:p xmlns:a="http://schemas.openxmlformats.org/drawingml/2006/main">
            <a:pPr algn="ctr">
              <a:defRPr sz="1500" b="0">
                <a:solidFill>
                  <a:srgbClr val="D8DE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EE8"/>
                </a:solidFill>
                <a:latin typeface="Arial"/>
                <a:ea typeface="Arial"/>
                <a:cs typeface="Arial"/>
              </a:rPr>
              <a:t>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21A7D-1179-4CDF-9D45-E7DCD3F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1D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1D1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5753B-4EE8-411E-934C-98C9A6F4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1D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1D1"/>
                </a:solidFill>
                <a:latin typeface="Arial"/>
                <a:ea typeface="Arial"/>
                <a:cs typeface="Arial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12959558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417040-A3E1-4FCC-BDF4-62B0D0FA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8111BF9E-BDC4-4088-86A2-2B358C9C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5BA3E588-27C0-4BD6-89B7-482DEC3B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3AF45-1125-4058-AEB1-EB7FC888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DR은 도구 부족보다 운영 흐름의 단절에서 실패합니다.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DCD54-0EDB-42F9-A8C5-ADFFCB31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73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Kubernetes 장애 대응은 백업, 모니터링, 승인, 복구 실행이 서로 다른 도구와 권한 경계에 흩어져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E14B1-02CD-40C1-9635-EB207E1E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23241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87B97-441B-4595-A9AF-BFA8B8ED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B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6BE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ACE85-6A90-48DB-9841-A2ECB04F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장애 감지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4D062-0270-435F-960B-12B93368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Alert 이벤트와 워크로드 상태가 따로 보여 원인 판단이 늦어짐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87027-BEC5-4889-8332-746D1DF4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23241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D1AA1-F801-4475-A12E-CDD8561F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765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B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6BE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518F3-AC05-43ED-84F8-DF78403C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04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백업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2FFA3-65A9-4452-9D64-8391522B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95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RPO 기준과 최신 백업 시각을 운영자가 직접 대조해야 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E9F7F-06AD-42DE-A99B-822E8151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23241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6BBEA-B271-4DD8-B324-5779C2AE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B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6B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BF98B-216D-40F6-BDB0-9963ECE0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복구 승인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74D4A-9F71-40CB-BCAD-51020ABD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95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위험한 restore 작업을 누가, 언제 승인했는지 추적하기 어려움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9698C-31E2-4849-92A9-94158329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28900"/>
            <a:ext cx="23241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CB7E6-3278-4808-A972-3480EAD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9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89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64487-D89C-4C20-B8D6-0991088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04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Failback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803FB-A3A4-4221-BE67-FA8A2D23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95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임시 복구 후 원래 클러스터로 되돌리는 절차가 별도 문서화됨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D357B-65D0-4E83-927A-B7FE70B1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0648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CD1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F1BDA-D059-4DA8-9F36-6A158F8A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971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문제 정의: Velero는 복원 도구이고, 운영자는 그 앞뒤의 의사결정 흐름까지 필요합니다.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138EC-05CF-475A-BDE8-3C691174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EA4E4-F61F-4ECE-BEFA-C3BBBC90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3076204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BF697-5ACC-4773-B581-540E6BD7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581EE918-5C4A-45BB-AD7B-0C743A42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9349A4C9-1372-4CAC-9E8D-52081CE9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CA33B-9B93-4033-982A-373A1CF3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목표는 백업 자동화가 아니라 복구 가능한 운영 루프입니다.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1F2C9-CC1A-4D39-9CB8-6E3E5184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E0A0E-3001-4A2D-8BF2-43741E97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0CEBA-4815-4A7E-AB02-7AA415F0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1562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Alert + heartbeat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501FC-BD60-4E89-88B7-C77CAC17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813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0865B-E668-475D-9E78-5AF72F3F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DB28A-ED50-4C05-9545-E8EACFB5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0325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추천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AA28C-61F5-45A6-9549-7462C236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43250"/>
            <a:ext cx="1562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정책·백업 freshness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0298B-5920-49B7-8B68-5225CAF4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813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C728A-CB2F-432E-B462-7EBDD221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908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5DBA5-BF23-42E7-A893-5D069178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00325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승인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86A3C-5854-4B2B-989D-C500C6A6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562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operator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99B5A-12F2-4CD4-8457-31640640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BA91B-DB34-405E-B809-CBA736CD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908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D7E6A-8E2D-4125-856C-3C74CBF5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0325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775E2-D9EA-4FC9-B19C-BB9F377A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43250"/>
            <a:ext cx="1562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tenant namespace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25F42-ADD9-4B1F-9F47-415DF517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CFAAE-50BA-49AC-8F39-6BC38FFD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101CD-A022-41ED-B0FA-B21FAB48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0325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2FBBC-8810-4DDC-B3A6-CE82242F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1562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failback script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4C57A-9C6C-459F-A642-A9632652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171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79ED61-35F9-40E6-A3C8-30588B77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Cloud K8s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DA8D6-83E4-439E-8C88-1522F2F0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평상시 운영되는 메인 클러스터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561F0-25E5-473D-AF05-0F27FCEC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4171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8FAA12-9582-45F4-9F3B-490CF2DF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339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Edge K3s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EDE87-C402-42AC-956A-C738A48E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720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장애 시 임시 대피·운영되는 복구 클러스터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EB3E99-E156-41FB-A812-BF2D7FAF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43450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0C84C6-B154-495E-A3C5-FA0AFE61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76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89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892B"/>
                </a:solidFill>
                <a:latin typeface="Arial"/>
                <a:ea typeface="Arial"/>
                <a:cs typeface="Arial"/>
              </a:rPr>
              <a:t>Failover / Failback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C2C8E-5612-4943-9E9C-20C81D69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090E32-6579-4E0E-B604-A0D3B0BA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15441993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265AD6-4864-4EDE-84D9-64EB7D4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F9CEE3E-F9F1-4569-9921-9714AAB6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C7F0C139-F4ED-4603-A82C-43B5E62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72EAD-849A-4655-A52C-3872A046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최종 구현은 자동화보다 안전한 경계를 우선했습니다.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DFC51-B140-41B7-9E6F-726A076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ADD75-2A97-4078-BB67-5CC85FE6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9F8C5-41BB-48E5-96B4-E2619868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526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A20C1-39D1-4288-A84F-183F4AEB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19275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CBA87-FC09-403B-9EB8-F610B209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AF7B0-EC5D-443A-B6FA-3DCC7DA7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1927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최종 구현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3E1C7-FE0E-4327-B06B-F9824BFA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52600"/>
            <a:ext cx="3657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4E72E-A38B-4C19-B558-6951EE38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192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변경 근거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0252B-6647-4D39-A0C9-5D7D419B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0134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69292-9513-46BD-A07A-FC398306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Failback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4DC73-5945-46D2-ADDC-CBC69EFD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2410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자동 복원 명령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8B783-791C-4AC8-B9AB-2B6ABEEF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2457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스크립트 발급 후 관리자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789AA-FAD9-4D71-B192-5B318A9B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241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메인망 데이터 덮어쓰기 위험 감소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7B747-7222-4BFD-B325-5F12EBAA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0134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9ED72-B225-4B60-9F6B-C7A3232C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상태 동기화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93793-C39F-4282-A2C1-297D0820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중앙 Polling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A844E-3402-49C3-8228-9E4FCBE1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2457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Agent Heartbeat Push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7B308-B509-42D1-8254-B0F5151F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051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사설망 클러스터 접근 제약 해결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9359D-4B9D-40B0-874D-144283CC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10134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E5FB6-0E91-4C74-AA14-59573219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모니터링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70CC39-2244-48EF-8F7A-E2E9F6A7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Zabbix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08EB5A-F050-4437-B383-993A9657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2457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Prometheus / Alertmanager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047338-7D6D-435C-B746-6BD3D6D6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862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K8s 리소스 연동성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96483-990F-43C3-B84F-EE756642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10134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0C8785-A7D6-4D50-8991-7FFD0C5F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스토리지 격리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9425E-2FEB-4333-A7B6-FF740F5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6725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namespace 논리 격리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B3513E-B006-4FEB-88DF-F57364F7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67250"/>
            <a:ext cx="2457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Velero prefix 기반 격리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FEF581-7051-4162-9322-057BC24B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672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단일 MinIO 공유 환경에 맞춤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A85CD8-ADF5-449B-A452-0338420C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9D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9D73"/>
                </a:solidFill>
                <a:latin typeface="Arial"/>
                <a:ea typeface="Arial"/>
                <a:cs typeface="Arial"/>
              </a:rPr>
              <a:t>핵심 변화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10B331-C873-41E7-9DBF-72FE083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007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“자동으로 다 한다”에서 “운영자가 안전하게 승인하고 추적한다”로 전환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26AA9D-EE56-44FB-8189-03B32334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A2117F-EE85-471D-86F9-06757BE5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2274938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D74E22-08A7-4395-B206-A4F417B4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8064FF04-14F3-4065-93FE-F796E7F0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3A1D034B-CCE9-4928-8BF2-D554F0F4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5920D-DFB5-4AA2-AF9C-4A17036D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네 계층이 장애 이벤트를 복구 실행으로 변환합니다.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64388-8A8A-49BE-BD2F-54841652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B5AAF-9E54-4114-9C8B-FCC1F55F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3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74B75-6211-47AD-9D67-3E119A2B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24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57D3C-0E25-43F8-8702-F1335B9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React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67369-D128-4E99-93F2-0A929784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0500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Cluster health · Incident stream · Restore progress · Failback 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BE25D-8B55-4AFC-BB58-8D36AD76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336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EA190-8C6A-449C-A1DA-BF15A49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8EA8E-F989-4D35-BA29-61B9EC76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3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FFF45-147B-4CCB-82F0-1FECD9DE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Business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07162-63CF-40FD-A094-0250CE24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384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Node.js / Express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72664-C67E-4950-B4DE-0EA4E466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384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Heartbeat 수신 · 정책 관리 · Operation queue · RTO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95B16-FF9E-4CAD-8E2C-2FD621C4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671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27F82-7887-43CA-8C3F-DF820B4E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81A5B-8E19-4BA6-B350-29601C66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13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948B4-B4A5-418C-B649-35EB694C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89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D9892B"/>
                </a:solidFill>
                <a:latin typeface="Apple SD Gothic Neo"/>
                <a:ea typeface="Apple SD Gothic Neo"/>
                <a:cs typeface="Apple SD Gothic Neo"/>
              </a:rPr>
              <a:t>Integration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59575-9C32-480B-AD14-1B8AE1AC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719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Velero · MinIO · drctl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9D831-3D0E-4226-8DC9-1BBD935D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7190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Backup/Restore command · prefix isolation · CLI onboarding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9BB74-2FA5-4B38-8DB3-EFDE54A3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005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F175F-BBE6-4D9D-AD96-7DFFA0D0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5F663-1725-4DED-AD53-A2AAC655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3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BE369-67DF-438F-A25C-B03C5677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244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K8s Clusters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63C938-74FB-4083-8D00-B9952CE3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053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Cloud K8s + Edge K3s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A5F6A4-1245-49D8-BF3D-799A530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053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Primary 운영망 · Recovery 임시망 · dr-agent Helm 배포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AF6D47-04AA-4C12-977D-8E1B9C46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33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9D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9D73"/>
                </a:solidFill>
                <a:latin typeface="Arial"/>
                <a:ea typeface="Arial"/>
                <a:cs typeface="Arial"/>
              </a:rPr>
              <a:t>Heartbeat Push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DAF40-8CCD-41E2-9383-0AB886EA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89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892B"/>
                </a:solidFill>
                <a:latin typeface="Arial"/>
                <a:ea typeface="Arial"/>
                <a:cs typeface="Arial"/>
              </a:rPr>
              <a:t>Command 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055AE8-FBC2-4F5B-A4CF-93051F3D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1E236A-340F-4A1F-ACA4-CB0EC4A7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7578443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20AEAF-1D2A-4D83-B8C8-DD1FD87F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BF341D5C-81BD-4189-911B-BB2A1D09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1C834DD7-2C82-438C-9B7D-223117DB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COMPONENTS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83996-294B-48B9-8B08-51698421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구성요소는 기능 나열이 아니라 책임 분리를 기준으로 설계했습니다.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C4D7F-3BAE-44FC-A662-57E112FE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0B967-04D3-4BF8-93CA-6A64B7A1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739D1-D44B-4029-9823-4DE9C988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D54EC-3F84-4233-8342-2A3ACF78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526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React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E9D14-CBA2-4043-BC0A-FA1BE93C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상태·정책·복구 진행률을 운영자 화면으로 통합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1690F-AD7B-4630-9045-35C779ED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7458B-B37F-4BC1-A41D-DDDECC3A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B09A2-A79C-4AB7-8F97-871E27DA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20866-0477-4AC8-A656-E37CE7A4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Node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6D180-4B7E-4525-A3B7-6DACE1AC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Alert, heartbeat, policy, queue, RTO 상태를 중앙에서 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B230E-3B44-4D52-8A8B-31DEB81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4310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3B532-375E-49D1-A233-AA9DDEE6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2560F-6C88-45D9-A210-E5AA6B96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383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9AF57-94E6-4C18-883D-6D8C7595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dr-agent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ED61D-35BE-4604-898C-9C320069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098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사설망 클러스터에서 상태를 Push하고 명령을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FC9C9-6FDA-4C0E-880D-135D154C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C915C-8CB8-4122-8E25-CE60B400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67357-F569-4BA8-984A-E879E17D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2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C4D50-26BE-4F53-BD9D-865BE289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671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Velero / MinIO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A8F07B-FACA-4312-A55A-C8863417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namespace 백업·복원과 S3 호환 저장소를 담당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F6647-33E3-4650-988E-EB28E167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5760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8EFEEA-E062-4443-92B7-D8E482AF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671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23758-E65D-4C60-9C22-6A2C3C81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52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898AC7-DE66-4171-A596-6C53190F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drctl CLI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A4A473-B016-4922-A453-A0AC6BF6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243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토큰 발급, 정책 선언, 설치 흐름을 터미널에서 보조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61C91F-F206-4EC8-9F36-01265EFC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86B31C-8906-4A33-9A25-9EA45EAC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671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B33EFA-E8F1-4873-BC6F-D888B674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52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B00709-95C2-4DF3-B49D-8996E278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zrok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0AE339-BF13-4605-96D6-76B8CA11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공개 데모 URL을 제공해 사설 개발 환경을 외부 접근 가능하게 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6DF7E3-3C02-4FAE-B20A-96CEDC7E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7083C7-D84D-4CA5-A65D-D20C18FC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17785072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9624CE-BC1A-4C33-BAA8-7A1F8B57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E8C00CB0-D42B-4A9E-B868-06AF9130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FBF50897-3CC0-4805-8931-DF13F2FF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ABB73-DD0A-4662-A01B-AD222549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장애 이벤트는 여섯 단계의 승인된 복구 작업으로 바뀝니다.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4FF74-5CE6-4760-883F-F378C5C1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390650" cy="16573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7DD6A-AE58-445A-B504-96738E5F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60975-9959-4AF6-933F-6BF6B1C6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9BF8B-B8B9-43DA-AC62-0C5E605F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Alert 수신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2E2FE-943A-49CD-A8D1-3786F158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NamespaceDeleted / critical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11331-9359-49FB-B232-43807B7B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86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5E595-F45A-4C04-B611-B30DC5D8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43150"/>
            <a:ext cx="1390650" cy="16573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6F2BD-CE31-4DBB-B5FF-458B3D44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88F8D-E20C-4A4D-B61D-10342D5B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F286F-2E7D-4F99-856A-63056DDD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99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상태 보완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8920E-23A3-4345-8867-66C8ED4E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67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agent heartbeat + workload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1802B-685B-4CF0-A4CC-E17F0707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B5BA8-F123-4B2F-86A4-2D61B7F9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43150"/>
            <a:ext cx="1390650" cy="16573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B1DB4-50F7-440D-843A-8A1C60C8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AD3FE-089E-483F-8ED2-07567601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B4FEA-113D-4B94-A91A-F3CFF973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추천 계산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D5ECF-CA3F-404F-AE1F-8405C498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67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tier · RTO/RPO · backup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ACCEA-3BFC-499C-B0AA-B6304EF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86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74CCA-6C18-481A-B028-DA48DA0E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1390650" cy="16573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F1C37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F1FBD-1B1E-48B2-B8ED-544765BB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7CCEC1-132F-41EC-84AD-ABEA79B8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EA6FEC-A60E-426F-A6DF-80CCEE62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99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운영자 승인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AEF38C-9449-4835-8A03-7885629C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67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선택 승인 · 보류 가능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888598-E05D-41FB-9F58-5BDD147E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86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49D672-3C9A-435B-9354-2EE2FF94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1390650" cy="16573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037F8B-2671-4D00-A9CA-C3BD2544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2D5461-0338-416B-9DC3-093ABCD9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BC31CE-F2F6-4F92-A22C-620F1BC7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99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Restore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E80303-E8EB-4620-94AC-6E68538C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tenant namespace 복구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1F6AA9-E13D-4D63-8D1C-B3683734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86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4F30C6-EE91-41DF-A743-779EB41A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43150"/>
            <a:ext cx="1390650" cy="16573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8734F4-F5F2-4CBF-9BE4-52EA563E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9BB7AF-EB20-4E0E-A73A-6B03B993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8DCC22-DF56-45BB-9FAA-438B6297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RTO 기록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BC984C-6484-498E-AD75-0755D7F7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67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진행률·완료 상태 표시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3A3B4D-E6E9-4DC3-99C6-9A13AEFC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9848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8F3"/>
          </a:solidFill>
          <a:ln xmlns:a="http://schemas.openxmlformats.org/drawingml/2006/main" w="9525">
            <a:solidFill>
              <a:srgbClr val="CDEB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8A3D8E-E426-4889-BB25-682E40E9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운영 원칙: AI/추천 계층은 바로 복구를 실행하지 않고, 운영자가 판단할 수 있는 근거와 선택지를 제공합니다.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6636D6-BAA9-4113-A052-4C3031C8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8FAFDF-68FB-4584-9C58-8A4736E3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8166968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5A7D24-8FC9-4FB0-9CB2-5E3EFDC7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49ACB7CA-7B28-4975-B524-C7D25017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27E01E87-8D27-4987-8AC0-C1978B9C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1D5BD-81A6-42B7-A6E5-FD704E33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order-service 장애로 전체 DR 흐름을 시연합니다.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09A8F-0A86-447E-A01E-0CAB85F0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676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3375A-A9A6-4198-8562-ACDBF892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5B33D-2894-4641-9B14-ADB6FCF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my-cluster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F1B85-71CD-4A86-A3D2-C8D5DC04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1676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F362F-6FBC-44B0-AD74-8B318454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namespace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BB3AD-E302-4695-8AD3-BB5BD977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07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order-service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7B478-D6A8-4BEC-AF06-8F8D6302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1676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EB20C-22B5-45A4-B493-32BE7BB9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431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tier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8EFC2-3348-41F1-AB5C-38B40D10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4C4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4C4C"/>
                </a:solidFill>
                <a:latin typeface="Apple SD Gothic Neo"/>
                <a:ea typeface="Apple SD Gothic Neo"/>
                <a:cs typeface="Apple SD Gothic Neo"/>
              </a:rPr>
              <a:t>critical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D9B07-E592-4A0D-B877-25EC266D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1676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7A7B6-4A75-4878-9DCA-3E776240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431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FEE50-B5A2-474D-B1DE-0884A91C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tenant-my-cluster-order-service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0FB65-17B1-4736-8629-12F07DCF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1676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4C572-926C-49EA-8269-A9774D7F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431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SLA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22740-53E9-4C2A-A121-EF319288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RTO 1h · RPO 30m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E8E9E-F501-4AAA-869A-29345B24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3E1BD-33BF-4EDD-B261-2B4B5684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F2634-ECE9-4761-AE72-97652B8A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백업 생성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397D5-A1B5-4E4C-A6FA-C9B48C2B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755A8-1B73-458C-A035-B49E5424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32A6F8-F48A-4428-880A-631E4FAA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71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ADCE1-1295-47EC-9C2A-C9277C88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195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namespace 삭제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2DEE5A-02CA-4EBB-B11B-D267DB0F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147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DA6919-EE77-4C37-A0E4-12F45351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1F002-33A0-479D-BFB1-84FFCC13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71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B88EC-F23B-4600-8943-B7122B80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195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Alert 주입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CC2441-43A3-472A-AD05-FB9AAF04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147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36E5D2-1EF8-475E-8F83-289DB4CC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E241A2-1121-480D-946F-1CDAC8D3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71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698D81-610E-4581-90AF-B1FF04A6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195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추천 확인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30CB7A-BB11-4663-B44E-5A1B729C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147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659D0E-B490-447B-BE2E-7C6DD0EC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0F6DA9-AC04-4A77-AFC5-34E7EBA3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71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1F0DDF-39D2-4C47-83E4-0B81A647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95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Failover 승인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0F2FBD-7544-471F-B59A-91A562CF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B4A102-316E-415F-BFCE-CD4CC8B8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961952-FF19-4A12-A45B-D362B5E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71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2ABDFF-C53D-4AB0-B97A-EEA7C1DE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95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복구 확인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C9EACC-C244-4FAA-8286-A41E1A89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147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58489F-B047-4877-9C41-E3B40E3C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FBC87A-2C91-40E5-957F-D420BB4D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71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D53CC3-99D0-4A85-88F0-D4FFF89B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195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Failback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A1ED55-4F1C-4B20-A5EE-BB140711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발표 멘트 포인트: 원본 클러스터에서는 서비스가 사라지지만, 복구 클러스터의 격리 namespace에서 서비스가 다시 올라오고 이후 원래 클러스터로 복귀합니다.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63D0D8-886D-4754-BDBE-22D69499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8F9E3C-7F4C-49AF-8182-DCE4D515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4521657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A1275B-1864-4D89-B9C4-DDE8532A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1E1773C8-951D-43F6-9BC4-9C3070EB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4D959D41-5189-4531-AB1C-65B510D4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FAILOVER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7201-57C2-4CB0-A359-35379A87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복구는 공유 클러스터 안의 격리 namespace로 들어갑니다.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265F5-208D-4C50-91BB-9CDEEB9A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7622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AAE01-A383-4532-AFC9-C94EFE4E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Primary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21343-6304-440B-9F99-6A36D207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Cloud K8s</a:t>
            </a:r>
          </a:p>
          <a:p xmlns:a="http://schemas.openxmlformats.org/drawingml/2006/main">
            <a:pPr algn="l">
              <a:def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order-service 삭제</a:t>
            </a:r>
          </a:p>
          <a:p xmlns:a="http://schemas.openxmlformats.org/drawingml/2006/main">
            <a:pPr algn="l">
              <a:def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critical alert firing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7BEF5-938D-40B4-AB7A-F012F36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27622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EB219-BAFC-44F5-AD4F-BB8F54C7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DR 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FC452-04A1-4D84-AB2F-99190FC7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정책 점수 계산</a:t>
            </a:r>
          </a:p>
          <a:p xmlns:a="http://schemas.openxmlformats.org/drawingml/2006/main">
            <a:pPr algn="l">
              <a:def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운영자 승인</a:t>
            </a:r>
          </a:p>
          <a:p xmlns:a="http://schemas.openxmlformats.org/drawingml/2006/main">
            <a:pPr algn="l">
              <a:def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Velero Restore 제출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96A07-7D2E-4DB5-AD60-9764902C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7622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6FF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FE858-2665-4B1E-A148-E77EFF9B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980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2454F-930D-4584-B7E7-B23F17CB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432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tenant-my-cluster-</a:t>
            </a:r>
          </a:p>
          <a:p xmlns:a="http://schemas.openxmlformats.org/drawingml/2006/main">
            <a:pPr algn="l">
              <a:def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order-service</a:t>
            </a:r>
          </a:p>
          <a:p xmlns:a="http://schemas.openxmlformats.org/drawingml/2006/main">
            <a:pPr algn="l">
              <a:def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Pod Running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FEAF0-DA78-459A-878D-7B20A663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35917-6C29-4543-A361-4582E014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90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556C0-DF7E-4AB8-A55A-DE04017B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0100"/>
            <a:ext cx="6496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90F59-91AC-49C9-9D84-05DCC7DF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9625"/>
            <a:ext cx="649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PendingAgent → Submitted → Running → 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9F3E0-853B-4970-9609-B504651B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340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tenant namespace mapping은 같은 복구 클러스터를 공유해도 사용자·서비스 이름 충돌을 피하기 위한 핵심 설계입니다.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69B64-8D60-4BCD-953E-B699CA2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85E04-F5CF-48B2-9B5F-ED69D207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14732408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47404C-7798-4241-9C70-CA52C2AA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7182AA4-78C1-45EB-885E-C55E1EF6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8A0D451D-F2FC-496D-A5F5-A4F3B328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FAILBACK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A32B9-E381-4206-B99B-7E653E4C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원상 복구는 편의성보다 데이터 덮어쓰기 안전성을 앞세웠습니다.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16B16-2568-4913-9CF3-7848DBA1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724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4D808-5331-42CA-91A9-2F3E29D3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461FB-3515-4648-92CA-FF762192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526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F786B-9D60-45EC-A4C8-0B9D92F0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43150"/>
            <a:ext cx="179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Edge 최신 상태 백업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62EFA-8CC3-4258-B11D-632D1EF9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임시 운영 중 쌓인 데이터를 Velero backup으로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06D23-7257-4AF1-B391-542195D5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003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92345-3627-4A0C-85FE-E4C6C7F6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2724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F1C3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9EB99-C531-4160-98E4-2A80998A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F587E-5000-4841-A5D5-B262FC9E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526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76D42-7FC9-4CB2-BAF0-6284BD44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43150"/>
            <a:ext cx="179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restore-*.sh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FA24A-B743-412A-A571-168AF39F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플랫폼이 원본 클러스터에서 실행할 복구 스크립트를 발급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C2FA4-CF43-49AA-AEBB-B32643A7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19F13-449D-446F-819A-8A51F8B6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2724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9DC99-F52F-4F36-955D-B41FA7D8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22128-A58D-4969-991B-32A8136E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526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63B15-3D1E-42B3-BA31-38E1875C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179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관리자 직접 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84E12-35DA-4859-BD45-EAE728D8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메인망 권한 경계를 넘지 않고 운영자가 최종 적용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01C16-E1C2-4948-AE36-CED984F9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962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23E4CA-E244-4CCE-8568-24F7DFD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발표 포인트: 완전 자동 Failback을 보류한 것은 미완성이 아니라, 운영 데이터가 있는 메인망을 보호하기 위한 안전 설계입니다.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B830E1-B188-483D-9883-6E45363B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645623-148F-4D32-945B-5985B2CE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4464086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3E7E7-C6CF-443C-8246-8275490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7B77B88F-D525-481B-B84A-83E6FC93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A94F74BA-B8B4-4D19-9258-AB9B1610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6442A-1080-44F4-B058-32EA1AEA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Must·Should 범위는 완료했고, 보류 항목은 이유를 명확히 남겼습니다.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FD7CE-D7AE-45C5-9A06-1783C938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D63B2-3B04-42C3-9FD1-4DF48A7A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1B841-7171-4628-B19C-A9E97AA2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526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371AE-5AF6-4813-81B8-787EE13E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28800"/>
            <a:ext cx="453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A927D-A12C-4D27-9C13-526AD7D1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867FA-D3A4-410B-BF8E-8A6722F2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288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MoSCoW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B61FA-ACE5-4C0A-95A7-25D6F07D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94A1A-BD73-48D8-822D-F7235CFC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18527-AB32-4C13-A436-2B92E3BE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895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92FA3-3BC7-4CCA-B112-C035C0B4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F-01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39AEB-54D2-476E-8E11-204382FB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0027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drctl CLI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C489C-425A-4649-894A-597A7CD4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02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Must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E0477-3DFD-46AB-AB61-07E14A55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02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DEB26-EF15-4F33-B611-34B962C4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95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A3B4C-BC01-4AAD-9C96-8A1685E5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F-02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B4E32-50CF-4C6C-B717-E9851521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24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dr-agent Helm Chart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CF315-D665-49EE-8CFA-AE0A61EA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241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Must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BF249-3CE7-4BE5-8D35-96FBF4E0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241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B28FD-EFE1-4366-AB53-55D1EA35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895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AA131-FADB-4BAF-8DE2-8BD3F31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F-03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5F31E-4E01-4AD9-9EFE-53419CCD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4797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대시보드 모니터링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BD1FC-87A1-416A-BAA1-50E3C8D5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479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Must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86B362-8B28-428B-B1CB-B48F197D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479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2E90B-DAA1-4A87-A6A2-945F48F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895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DC2331-7B39-413E-A9E4-C81B8DDD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F-04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BE1F25-643D-46C0-AFCF-F434DA00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718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Policy-as-Code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3BF7B-CF19-4890-8FB8-AC011E91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718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Must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8AEF08-4325-4961-B004-E7301A6D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718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5B6E9F-C60F-4062-9A06-30A29472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895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BD8A31-2389-455D-A394-120024F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F-05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95C367-9140-44CA-B20C-9D69F36A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9567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Failover 파이프라인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682299-C981-4163-A31F-7E9961FF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956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Must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635CD0-11D2-4895-83EC-99DAE00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956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65BB1E-F779-42D0-8BC5-E8C97E15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895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61EAC8-83AB-4C17-9F8F-619618A2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95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F-06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237E00-5E3A-4323-B7B0-7FE37F40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95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Failback 스크립트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11AD77-8EF4-4A3C-A7DF-2558BDB4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95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Should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30F4FB-F88F-4022-9536-B52765D2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95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AC9870-FB2F-448E-ADFC-ED638181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95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1217E7-A4E1-44C5-9E65-691133F9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F-07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F54803-127A-4A62-BF72-D56FD46D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4337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Velero prefix 격리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66384A-3B72-47A1-8289-9DDF0C7C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433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Should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F27923-7338-474F-B8DD-198F8D04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ECC436-1778-402C-A1B3-62D193FF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895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40F363-EE72-4FCA-8799-F6FF04E7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F-08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4B346D-1E63-405F-B647-D19FB609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672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8단계 온보딩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C4ACC2-00CC-4E9B-A092-50F233AE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Should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F88DB6-F478-42E7-B2D9-F8D26898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672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4B9DC0-FD2D-46B8-A116-A9DCEB9B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895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EEDDC7-3849-4A1C-AA09-F2D589E6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F-09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ACB371-CD26-4980-A1B5-716DC5F6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9107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zrok 공개 URL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7D2137-D5ED-4A45-93D1-DA764A88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910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Could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6D34C-2014-4420-84E6-DDA33AE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910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BFDF40-78ED-4114-987A-88E1F132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895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D41754-1B40-48EB-8EF7-0CB99BA0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F-10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DB7171-365C-4773-8CBA-6BB855D4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149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완전 자동 Failback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69C60B-A200-4B16-93A3-950396C0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14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Could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0FA7EB-20BA-4A0F-A2A6-D2B80462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14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89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D9892B"/>
                </a:solidFill>
                <a:latin typeface="Apple SD Gothic Neo"/>
                <a:ea typeface="Apple SD Gothic Neo"/>
                <a:cs typeface="Apple SD Gothic Neo"/>
              </a:rPr>
              <a:t>보류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FADCD3-19EB-42C5-838F-441ADB6E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895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7ED713-5529-449B-B349-D6C4255F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F-11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477344-31E4-4EAB-A4AC-F3AAA391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3877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스토리지 자동 프로비저닝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B1D0A6-528F-42CD-AB12-BE37C112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387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Could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59135A-1298-4D1E-8F0C-E3570D9A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387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이연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7CFD38-DD9A-467D-828A-CBE4094B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28850"/>
            <a:ext cx="12192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8F3"/>
          </a:solidFill>
          <a:ln xmlns:a="http://schemas.openxmlformats.org/drawingml/2006/main" w="9525">
            <a:solidFill>
              <a:srgbClr val="CDEB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08C8F5-7FC3-474F-B30D-FF25215D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00300"/>
            <a:ext cx="495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1E487D7-A3F0-4A18-9E57-693E7CDA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43250"/>
            <a:ext cx="102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완료 항목</a:t>
            </a:r>
          </a:p>
          <a:p xmlns:a="http://schemas.openxmlformats.org/drawingml/2006/main">
            <a:pPr algn="l">
              <a:def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Must/Should 전량 포함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2AB0E8-BE78-4AF9-A78D-88C6504E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07D3E00-AE2B-4CA9-9871-F0E36A5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6444269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363DFE-E6D1-4939-9013-9C9F8E30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8D49D3F8-A786-4449-BD04-EB26B200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A565FBCE-2ABF-4DAF-A7F9-DFF5218E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47F2D-B7C1-4008-A9CB-9D8367F8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검증은 화면이 아니라 DR 생명주기 전체를 기준으로 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465D6-F241-4A5A-A4CB-D94C2704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6FE9E-F2D5-450A-83CF-A509A4D3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초기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42973-CCD2-4756-AE72-211F5B4C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Cloud K8s 서비스 정상 동작 및 주기적 백업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46A7D-E341-4C50-9D02-E2FB91FC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ADEB3-CE8F-4E5F-A2C9-91FA730C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860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Stage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0184F-BBA7-4D72-A356-40CB215F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71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Cloud K8s 장애 후 Edge K3s로 Failover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70351-3A79-4E9B-84BD-C5488B5E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A19AE-C893-4805-8EE2-BADDA899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860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Stage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57360-5037-4657-A4CD-D6687B0B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671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K3s 임시 운영 중 신규 데이터 누적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7DF72-0154-45D9-A73F-E8401C6B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6AD20-160C-468D-84B8-E29E852E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860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E6BE6"/>
                </a:solidFill>
                <a:latin typeface="Apple SD Gothic Neo"/>
                <a:ea typeface="Apple SD Gothic Neo"/>
                <a:cs typeface="Apple SD Gothic Neo"/>
              </a:rPr>
              <a:t>Stage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523B4-B89B-4CE8-907B-F1EB7EC3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671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Failback 버튼으로 최신 상태 백업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01F51-BBC4-445B-83B1-7B8E61EB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8F3"/>
          </a:solidFill>
          <a:ln xmlns:a="http://schemas.openxmlformats.org/drawingml/2006/main" w="9525">
            <a:solidFill>
              <a:srgbClr val="CDEB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03458-F76C-4B6E-8C61-C570C92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최종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88FEC-8CAE-4947-AF15-5FE1A8BE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restore script 실행 후 K8s 원상 복구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DFDE4-FB2F-43C0-985E-7AAB9461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9486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C90A9-65A0-44D3-B120-9542F658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948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End-to-End: 장애 발생(K8s) → 대피소 복원(K3s) → 최신 데이터 백업 → 원상 복구 스크립트 실행(K8s)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62808-D57B-4B43-9BA8-04226DB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25CB4-2A4C-47D6-B7C1-FFAAE4B9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8971767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743B7C-B777-4427-BF5D-213E032C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049179A4-BF0C-4ADA-9267-B34E1AC5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8984076B-B470-4423-9B6E-A22F3B78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CDA96-B866-47B6-9A73-E1F509CB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주요 문제는 증상-원인-수정 흐름으로 추적했습니다.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55FF1-49DC-4841-922A-27BC721A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2469C-01BC-4569-9A16-CBC2C290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9072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9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892B"/>
                </a:solidFill>
                <a:latin typeface="Arial"/>
                <a:ea typeface="Arial"/>
                <a:cs typeface="Arial"/>
              </a:rPr>
              <a:t>CASE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218CD-05A4-47DE-987C-10798648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621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권한 누락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A52EC-37D3-46DE-B129-EA7DC35B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0500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토큰에서 중앙 클러스터 권한 누락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F5C25-BE8F-4908-8078-5540A27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필수 권한 복구 + 사이드바 필터링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614C1-A47C-4714-A163-E126ABEC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3D143-B502-4DC3-BFCE-7017861E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9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892B"/>
                </a:solidFill>
                <a:latin typeface="Arial"/>
                <a:ea typeface="Arial"/>
                <a:cs typeface="Arial"/>
              </a:rPr>
              <a:t>CASE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1F953-87A0-4A06-A408-8B6E7990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384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API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D4DE7-C80B-4CAB-9F18-E8EDEC5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8130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초기 렌더링이 cloud-primary를 강제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2DDC7-0FD4-4959-8569-8669CE9E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사용자 실제 클러스터 우선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12B80-3561-416A-B680-0A07ABF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58CB4-477E-4026-A7E0-3412401B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332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9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892B"/>
                </a:solidFill>
                <a:latin typeface="Arial"/>
                <a:ea typeface="Arial"/>
                <a:cs typeface="Arial"/>
              </a:rPr>
              <a:t>CASE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F1380-94D9-4C80-99BE-B594463B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Helm 오류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90DA8-8E1F-4955-AAC7-26775094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5760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Vite 서버가 Helm index 요청에 HTML 반환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42E11-C907-482C-8AC2-05392DA6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/api 프록시 설정 추가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9E8B3-E5C0-4D89-8231-AC859E0A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88221-1AAF-429B-B05F-73035F6D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9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892B"/>
                </a:solidFill>
                <a:latin typeface="Arial"/>
                <a:ea typeface="Arial"/>
                <a:cs typeface="Arial"/>
              </a:rPr>
              <a:t>CASE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6B2E5-4E3C-4590-9526-8A3B3F29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Agent 오류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6C4BF-3308-4270-BBE0-878FF041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3390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가짜 토큰·Proxy 연동 누락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49B2A-8C94-47CF-ADA6-22F25A3C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실제 토큰으로 Helm 재배포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2FBDC-BABE-478F-B192-FBA16F6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75FE7-E885-4959-AB71-15DBABF5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8938289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6E2F4-6F1F-417F-A86D-01A0B53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91E32E9E-D3F8-449E-9271-0E7FDC11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11A11BC5-7DDA-44E7-9358-9DE4F4E8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084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58D66-B9E9-49B7-A558-F1B4A332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상용화의 다음 과제는 더 강한 격리와 더 안전한 자동화입니다.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ED60E-CA1D-4D42-BA7E-68775719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0764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E8998-547A-47EA-A664-00CDED04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F49DD-948F-446A-A020-38FFE434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860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56A66-B76B-4BBB-A9E4-22A96144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GitOps Failback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B4A28-52E8-4A06-A654-4CE0922F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ArgoCD 기반 승인·감사·롤백 가능한 원상 복구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974AA-AC31-49FB-B421-7C84D4F4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01362-C7CD-4651-AF2E-65F8BF29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20764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D0793-A7DF-4986-888E-9B71301D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76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6FB17-92DD-441A-ADFF-49BDFB46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C6EE1-93E8-4028-B2AB-C64C5921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DB Registry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C50EB-353D-4D5B-9E95-CC037F3F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JSON 파일에서 Postgres 트랜잭션·audit log로 전환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BEDE8-0370-4868-9A37-2BB9EB24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194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67A07-67C7-4F75-A7D1-4D23B24D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20764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54F359-B393-4BB8-BDCA-DE66F977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39098-0D78-40AA-8D82-098BCC8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860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06F916-47AD-49F7-B496-EDB9B856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Storage Provisioning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69C1A5-187B-432F-8478-359C3829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사용자별 bucket/credential 자동 발급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B5819-7E44-4F7C-9369-691DCDD8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97E90-B9D0-4D77-BC48-EC2200E2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0764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C70D05-F825-4F80-8097-E6DCC951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13DCE-9244-40D7-A0F5-A3529BC6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860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5943A-B6E5-4C68-8C21-FCAF5312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12F"/>
                </a:solidFill>
                <a:latin typeface="Apple SD Gothic Neo"/>
                <a:ea typeface="Apple SD Gothic Neo"/>
                <a:cs typeface="Apple SD Gothic Neo"/>
              </a:rPr>
              <a:t>One-click Install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1FCFB-0F02-47A1-B760-072CE481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19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084"/>
                </a:solidFill>
                <a:latin typeface="Apple SD Gothic Neo"/>
                <a:ea typeface="Apple SD Gothic Neo"/>
                <a:cs typeface="Apple SD Gothic Neo"/>
              </a:rPr>
              <a:t>8단계 투명성을 유지하되 온보딩 장벽 축소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8E7F9-49B4-40D7-B524-999CE8D1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38700"/>
            <a:ext cx="9544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F1C3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F3430D-51F8-4FA9-9C4B-4CF13A24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157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5A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8A5A12"/>
                </a:solidFill>
                <a:latin typeface="Apple SD Gothic Neo"/>
                <a:ea typeface="Apple SD Gothic Neo"/>
                <a:cs typeface="Apple SD Gothic Neo"/>
              </a:rPr>
              <a:t>운영 환경 적용 조건: RBAC 세분화, Secret rotation, restore dry-run, multi-region object storage, 부하 테스트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6FACBE-D4A4-4A1D-AAA6-4A9BCFFA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0CF051-151F-4373-8A04-FA887CF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084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57362219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080E17-A8C0-4C40-93CA-184C03A9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82CCC-7FE6-4E33-89D9-500B993C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F9D73"/>
                </a:solidFill>
                <a:latin typeface="Apple SD Gothic Neo"/>
                <a:ea typeface="Apple SD Gothic Neo"/>
                <a:cs typeface="Apple SD Gothic Neo"/>
              </a:rPr>
              <a:t>결론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DB2E0-2513-4018-B3E1-6CE77673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도구를 붙인 것이 아니라,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 운영 흐름을 구현했습니다.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1C876-70AC-4AE0-812D-730EFEC0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5D208-6C98-4243-84D1-F7611BE3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E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D8DEE8"/>
                </a:solidFill>
                <a:latin typeface="Apple SD Gothic Neo"/>
                <a:ea typeface="Apple SD Gothic Neo"/>
                <a:cs typeface="Apple SD Gothic Neo"/>
              </a:rPr>
              <a:t>Velero는 백업/복원 도구, DR-Platform은 장애 대응 운영 계층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1DF9D-BE3B-450B-8868-BD88237A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5BCC4-D821-4BD2-966C-9F6B9CFD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E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D8DEE8"/>
                </a:solidFill>
                <a:latin typeface="Apple SD Gothic Neo"/>
                <a:ea typeface="Apple SD Gothic Neo"/>
                <a:cs typeface="Apple SD Gothic Neo"/>
              </a:rPr>
              <a:t>Heartbeat Push로 사설망 클러스터 제약을 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91158-3D87-455E-97C7-F54C5D4C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AF1B7-0C74-461D-97F1-1E2A017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E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D8DEE8"/>
                </a:solidFill>
                <a:latin typeface="Apple SD Gothic Neo"/>
                <a:ea typeface="Apple SD Gothic Neo"/>
                <a:cs typeface="Apple SD Gothic Neo"/>
              </a:rPr>
              <a:t>운영자 승인과 스크립트 경계로 위험한 자동화를 통제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78B41-33C8-47E8-A93F-93172C64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E6F06-827D-43CF-94AF-F0E1BAB3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E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D8DEE8"/>
                </a:solidFill>
                <a:latin typeface="Apple SD Gothic Neo"/>
                <a:ea typeface="Apple SD Gothic Neo"/>
                <a:cs typeface="Apple SD Gothic Neo"/>
              </a:rPr>
              <a:t>Failover부터 Failback까지 End-to-End DR 사이클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DEA8F-D867-4EBD-97EB-C250B657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2419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ADF23-060C-4441-BB5B-CC5E657E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29225"/>
            <a:ext cx="2419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 · Q&amp;A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9A745-D8D4-4470-9622-26F2A772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1D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1D1"/>
                </a:solidFill>
                <a:latin typeface="Arial"/>
                <a:ea typeface="Arial"/>
                <a:cs typeface="Arial"/>
              </a:rPr>
              <a:t>DR-Platform v1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21E39-511D-4DCC-BA31-428FD5A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1D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1D1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060443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2026-06-14T01:19:16.7970000Z</dcterms:created>
  <dcterms:modified xsi:type="dcterms:W3CDTF">2026-06-14T01:19:16.7970000Z</dcterms:modified>
</coreProperties>
</file>